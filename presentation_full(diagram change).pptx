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60" r:id="rId11"/>
    <p:sldId id="261" r:id="rId12"/>
    <p:sldId id="257" r:id="rId3"/>
    <p:sldId id="258" r:id="rId4"/>
    <p:sldId id="259" r:id="rId5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</p:sldIdLst>
  <p:notesMasterIdLst>
    <p:notesMasterId r:id="rId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5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554480"/>
            <a:ext cx="804672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TDMA 기반 Master-Slave 통신 SoC 구현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548640" y="2788920"/>
            <a:ext cx="8046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666666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Safety-Critical 통신을 위한 결정론적 시간 분할 접근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548640" y="3721608"/>
            <a:ext cx="804672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666666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9조 (정신수, 우동엽)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왜 결정론적 통신이 필요한가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804672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RT·안전-critical 통신 시스템의 요구사항</a:t>
            </a:r>
            <a:endParaRPr lang="en-US" sz="2000" dirty="0"/>
          </a:p>
          <a:p>
            <a:pPr lvl="1" marL="6858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예측 가능성(Predictability) — 시스템의 시간적 동작이 사전에 보장되어야 함</a:t>
            </a:r>
            <a:endParaRPr lang="en-US" sz="2000" dirty="0"/>
          </a:p>
          <a:p>
            <a:pPr lvl="1" marL="6858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결정성(Determinism) — 메시지 수신 시점이 미리 알려져 있어야 함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사건 기반(Event-Triggered) 통신의 한계</a:t>
            </a:r>
            <a:endParaRPr lang="en-US" sz="2000" dirty="0"/>
          </a:p>
          <a:p>
            <a:pPr lvl="1" marL="6858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충돌과 재전송으로 지연이 랜덤하게 변동 → 예측 불가</a:t>
            </a:r>
            <a:endParaRPr lang="en-US" sz="2000" dirty="0"/>
          </a:p>
          <a:p>
            <a:pPr lvl="1" marL="6858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자동차·산업용 네트워크에서는 이 불확실성이 곧 안전 문제로 직결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4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해법: 시간을 나누어 전송한다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804672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시간 슬롯 사전 할당</a:t>
            </a:r>
            <a:endParaRPr lang="en-US" sz="2000" dirty="0"/>
          </a:p>
          <a:p>
            <a:pPr lvl="1" marL="6858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각 노드에 전용 시간 구간을 미리 배정 → 충돌이 원천적으로 발생하지 않음</a:t>
            </a:r>
            <a:endParaRPr lang="en-US" sz="2000" dirty="0"/>
          </a:p>
          <a:p>
            <a:pPr lvl="1" marL="6858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메시지 지연이 통신 전에 이미 결정됨 (Bounded Latency)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TDMA (Time Division Multiple Access)</a:t>
            </a:r>
            <a:endParaRPr lang="en-US" sz="2000" dirty="0"/>
          </a:p>
          <a:p>
            <a:pPr lvl="1" marL="6858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이러한 시간 분할 통신 방식을 지칭하는 용어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5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본 프로젝트의 목표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804672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TDMA 원리를 SoC 레벨에서 직접 구현</a:t>
            </a:r>
            <a:endParaRPr lang="en-US" sz="2000" dirty="0"/>
          </a:p>
          <a:p>
            <a:pPr lvl="1" marL="6858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Master-Slave 구조로 시간 슬롯 동기화 및 통신 회로를 하드웨어로 설계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실제 하드웨어 타이밍 제약 하에서 동작 검증 및 시연</a:t>
            </a:r>
            <a:endParaRPr lang="en-US" sz="2000" dirty="0"/>
          </a:p>
          <a:p>
            <a:pPr lvl="1" marL="6858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이론상의 결정론적 통신이 실제 회로에서도 성립함을 확인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6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8046720" cy="7741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 b="1">
                <a:solidFill>
                  <a:srgbClr val="111111"/>
                </a:solidFill>
                <a:latin typeface="Noto Sans CJK KR"/>
              </a:rPr>
              <a:t>Contents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804672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</a:pPr>
            <a:r>
              <a:rPr sz="2400">
                <a:solidFill>
                  <a:srgbClr val="222222"/>
                </a:solidFill>
                <a:latin typeface="Noto Sans CJK KR"/>
              </a:rPr>
              <a:t>1.  프로젝트 소개</a:t>
            </a:r>
          </a:p>
          <a:p>
            <a:pPr>
              <a:spcAft>
                <a:spcPts val="2000"/>
              </a:spcAft>
            </a:pPr>
            <a:r>
              <a:rPr sz="2400">
                <a:solidFill>
                  <a:srgbClr val="222222"/>
                </a:solidFill>
                <a:latin typeface="Noto Sans CJK KR"/>
              </a:rPr>
              <a:t>2.  TDMA PHY · Datalink · 프로토콜 정의</a:t>
            </a:r>
          </a:p>
          <a:p>
            <a:pPr>
              <a:spcAft>
                <a:spcPts val="2000"/>
              </a:spcAft>
            </a:pPr>
            <a:r>
              <a:rPr sz="2400">
                <a:solidFill>
                  <a:srgbClr val="222222"/>
                </a:solidFill>
                <a:latin typeface="Noto Sans CJK KR"/>
              </a:rPr>
              <a:t>3.  Master / Slave 구현 사항</a:t>
            </a:r>
          </a:p>
          <a:p>
            <a:pPr>
              <a:spcAft>
                <a:spcPts val="2000"/>
              </a:spcAft>
            </a:pPr>
            <a:r>
              <a:rPr sz="2400">
                <a:solidFill>
                  <a:srgbClr val="222222"/>
                </a:solidFill>
                <a:latin typeface="Noto Sans CJK KR"/>
              </a:rPr>
              <a:t>4.  TDMA 통신 시연</a:t>
            </a:r>
          </a:p>
          <a:p>
            <a:pPr>
              <a:spcAft>
                <a:spcPts val="2000"/>
              </a:spcAft>
            </a:pPr>
            <a:r>
              <a:rPr sz="2400">
                <a:solidFill>
                  <a:srgbClr val="222222"/>
                </a:solidFill>
                <a:latin typeface="Noto Sans CJK KR"/>
              </a:rPr>
              <a:t>5.  마무리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999999"/>
                </a:solidFill>
                <a:latin typeface="Noto Sans CJK KR"/>
              </a:rPr>
              <a:t>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8046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11111"/>
                </a:solidFill>
                <a:latin typeface="Noto Sans CJK KR"/>
              </a:rPr>
              <a:t>1. 프로젝트 소개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11112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666666"/>
                </a:solidFill>
                <a:latin typeface="Noto Sans CJK KR"/>
              </a:rPr>
              <a:t>왜 시간을 나누어 전송해야 하는지, 프로젝트의 목표를 짚는다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999999"/>
                </a:solidFill>
                <a:latin typeface="Noto Sans CJK KR"/>
              </a:rPr>
              <a:t>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2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1828800"/>
            <a:ext cx="80467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2. TDMA PHY · Datalink · 프로토콜 정의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548640" y="310896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666666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프레임 구조부터 동기화, 흐름 제어까지 통신 규약을 설계한다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7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TDMA는 PHY와 DLL만 직접 정의한다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804672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OSI 7계층 풀스택의 한계</a:t>
            </a:r>
            <a:endParaRPr lang="en-US" sz="2000" dirty="0"/>
          </a:p>
          <a:p>
            <a:pPr lvl="1" marL="6858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필드 디바이스(센서·액추에이터) 레벨에서는 과도한 지연·오버헤드 유발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TDMA의 계층 단축</a:t>
            </a:r>
            <a:endParaRPr lang="en-US" sz="2000" dirty="0"/>
          </a:p>
          <a:p>
            <a:pPr lvl="1" marL="6858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Application이 Data Link Layer에 직접 접근 → PHY, DLL 두 계층만 직접 정의</a:t>
            </a:r>
            <a:endParaRPr lang="en-US" sz="2000" dirty="0"/>
          </a:p>
          <a:p>
            <a:pPr marL="342900" indent="-342900"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이후 PHY → DLL(프레임/MAC/Flow Control) 순으로 차례로 짚어나간다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8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PHY 정의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393192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연결 구조</a:t>
            </a:r>
            <a:endParaRPr lang="en-US" sz="19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GPIO 단자 기반 공유 버스, Master 1 : Slave N (NODE_CNT)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라인 코딩</a:t>
            </a:r>
            <a:endParaRPr lang="en-US" sz="19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NRZ (Non-Return-to-Zero)</a:t>
            </a:r>
            <a:endParaRPr lang="en-US" sz="19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9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배선</a:t>
            </a:r>
            <a:endParaRPr lang="en-US" sz="1900" dirty="0"/>
          </a:p>
          <a:p>
            <a:pPr lvl="1" marL="685800" indent="-342900">
              <a:buSzPct val="100000"/>
              <a:buChar char="•"/>
            </a:pPr>
            <a:r>
              <a:rPr lang="en-US" sz="16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TX 1선 + RX 1선 + 공통 GND = 3선 — Slave는 자신의 슬롯에만 TX 구동</a:t>
            </a:r>
            <a:endParaRPr lang="en-US" sz="1900" dirty="0"/>
          </a:p>
        </p:txBody>
      </p:sp>
      <p:pic>
        <p:nvPicPr>
          <p:cNvPr id="4" name="Image 0" descr="/home/user/SoC_Design_and_Programming/diagrams/phy_wiring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663440" y="1280160"/>
            <a:ext cx="3931920" cy="3291281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663440" y="4644593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 ↔ Slave 1..N 공유 버스 배선 구조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9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DLL - Slave 프레임 구조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8046720" cy="1874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필드 구성 (총 50비트)</a:t>
            </a:r>
            <a:endParaRPr lang="en-US" sz="19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preamble(8, 0xAA) + slot_id(3) + payload(32) + hamming parity(7)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에러 검출/정정</a:t>
            </a:r>
            <a:endParaRPr lang="en-US" sz="19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SEC-DED 방식 — 1비트 에러는 검출 후 정정, 2비트 에러는 검출만 가능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slot_id의 의미</a:t>
            </a:r>
            <a:endParaRPr lang="en-US" sz="1900" dirty="0"/>
          </a:p>
          <a:p>
            <a:pPr lvl="1" marL="685800" indent="-342900">
              <a:buSzPct val="100000"/>
              <a:buChar char="•"/>
            </a:pPr>
            <a:r>
              <a:rPr lang="en-US" sz="16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Slave 고유 식별자가 아니라 TDMA 슬롯 번호로 운용됨</a:t>
            </a:r>
            <a:endParaRPr lang="en-US" sz="1900" dirty="0"/>
          </a:p>
        </p:txBody>
      </p:sp>
      <p:pic>
        <p:nvPicPr>
          <p:cNvPr id="4" name="Image 0" descr="/home/user/SoC_Design_and_Programming/diagrams/slave_fram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48640" y="3246120"/>
            <a:ext cx="8046720" cy="56327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3900830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Slave 프레임 비트필드 (전송 순서: preamble → slot_id → payload → hamming)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10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DLL - Master 프레임 구조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8046720" cy="2057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필드 구성</a:t>
            </a:r>
            <a:endParaRPr lang="en-US" sz="19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preamble(8) + halt_cmd(8) + guard_ticks(10) + reserved(17) + hamming parity(7)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halt_cmd</a:t>
            </a:r>
            <a:endParaRPr lang="en-US" sz="1900" dirty="0"/>
          </a:p>
          <a:p>
            <a:pPr lvl="1" marL="6858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Slave별 1비트 마스크 — err_cnt가 임계치(FAULT_TH) 초과 시 해당 비트 set, 고장 Slave 중단 명령</a:t>
            </a:r>
            <a:endParaRPr lang="en-US" sz="19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에러 검출/정정</a:t>
            </a:r>
            <a:endParaRPr lang="en-US" sz="1900" dirty="0"/>
          </a:p>
          <a:p>
            <a:pPr lvl="1" marL="685800" indent="-342900">
              <a:buSzPct val="100000"/>
              <a:buChar char="•"/>
            </a:pPr>
            <a:r>
              <a:rPr lang="en-US" sz="16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Slave 프레임과 동일한 SEC-DED 방식 적용</a:t>
            </a:r>
            <a:endParaRPr lang="en-US" sz="1900" dirty="0"/>
          </a:p>
        </p:txBody>
      </p:sp>
      <p:pic>
        <p:nvPicPr>
          <p:cNvPr id="4" name="Image 0" descr="/home/user/SoC_Design_and_Programming/diagrams/master_fram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48640" y="3383280"/>
            <a:ext cx="8046720" cy="56327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48640" y="4037990"/>
            <a:ext cx="80467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 프레임 비트필드 (전송 순서: preamble → halt_cmd → guard_ticks → reserved → hamming)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11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DLL - MAC: 동기화와 타임슬롯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80467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Sync 기준점</a:t>
            </a:r>
            <a:endParaRPr lang="en-US" sz="18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Master가 매 사이클 마지막 슬롯에서 전송한 sync를 다음 사이클 슬롯 계산 기준점으로 사용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슬롯 내부 구조</a:t>
            </a:r>
            <a:endParaRPr lang="en-US" sz="1800" dirty="0"/>
          </a:p>
          <a:p>
            <a:pPr lvl="1" marL="685800" indent="-342900">
              <a:spcAft>
                <a:spcPts val="400"/>
              </a:spcAft>
              <a:buSzPct val="100000"/>
              <a:buChar char="•"/>
            </a:pPr>
            <a:r>
              <a:rPr lang="en-US" sz="15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½ guard tick 대기 → 데이터 전송 → ½ guard tick 대기</a:t>
            </a:r>
            <a:endParaRPr lang="en-US" sz="18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Guard Tick의 역할</a:t>
            </a:r>
            <a:endParaRPr lang="en-US" sz="1800" dirty="0"/>
          </a:p>
          <a:p>
            <a:pPr lvl="1" marL="685800" indent="-342900">
              <a:buSzPct val="100000"/>
              <a:buChar char="•"/>
            </a:pPr>
            <a:r>
              <a:rPr lang="en-US" sz="15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인접 슬롯의 절반씩이 경계에서 맞물려 슬롯 침범 방지</a:t>
            </a:r>
            <a:endParaRPr lang="en-US" sz="1800" dirty="0"/>
          </a:p>
        </p:txBody>
      </p:sp>
      <p:pic>
        <p:nvPicPr>
          <p:cNvPr id="4" name="Image 0" descr="/home/user/SoC_Design_and_Programming/diagrams/slot_timeline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371600" y="2743200"/>
            <a:ext cx="6400800" cy="2081893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71600" y="4916533"/>
            <a:ext cx="64008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Sync → [½G · 데이터 · ½G] × (Slot 0...N) → Sync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12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DLL - 클럭 동기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804672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Master·Slave는 클럭을 공유하지 않음</a:t>
            </a:r>
            <a:endParaRPr lang="en-US" sz="2000" dirty="0"/>
          </a:p>
          <a:p>
            <a:pPr lvl="1" marL="6858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클럭 오차가 통신에 치명적인 방해 요인 — guard tick만으로는 누적 오차를 막을 수 없음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분주 클럭으로 동일 타이밍 가정</a:t>
            </a:r>
            <a:endParaRPr lang="en-US" sz="2000" dirty="0"/>
          </a:p>
          <a:p>
            <a:pPr lvl="1" marL="6858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DIV 값을 AXI 레지스터로 설정, Master·Slave 양쪽에 동일한 DIV 값을 쓴다고 가정 — 분주 클럭은 메인 클럭 / (DIV + 1)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샘플링 방식</a:t>
            </a:r>
            <a:endParaRPr lang="en-US" sz="2000" dirty="0"/>
          </a:p>
          <a:p>
            <a:pPr lvl="1" marL="685800" indent="-342900"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수신 샘플링은 비트 구간의 중간 지점에서 1회만 수행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13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DLL - Flow Control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402336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1비트 에러</a:t>
            </a:r>
            <a:endParaRPr lang="en-US" sz="2000" dirty="0"/>
          </a:p>
          <a:p>
            <a:pPr lvl="1" marL="6858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Hamming으로 정정하여 정상 데이터로 사용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2비트 에러 (정정 불가)</a:t>
            </a:r>
            <a:endParaRPr lang="en-US" sz="2000" dirty="0"/>
          </a:p>
          <a:p>
            <a:pPr lvl="1" marL="685800" indent="-342900">
              <a:spcAft>
                <a:spcPts val="800"/>
              </a:spcAft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해당 프레임을 무효 처리하고 폐기, 이전 값 유지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Implicit Flow Control</a:t>
            </a:r>
            <a:endParaRPr lang="en-US" sz="2000" dirty="0"/>
          </a:p>
          <a:p>
            <a:pPr lvl="1" marL="685800" indent="-342900">
              <a:buSzPct val="100000"/>
              <a:buChar char="•"/>
            </a:pPr>
            <a:r>
              <a:rPr lang="en-US" sz="170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명시적 재전송 요청(ARQ/NACK) 없음 — 다음 TDMA 사이클의 갱신 데이터를 기다림</a:t>
            </a:r>
            <a:endParaRPr lang="en-US" sz="2000" dirty="0"/>
          </a:p>
        </p:txBody>
      </p:sp>
      <p:pic>
        <p:nvPicPr>
          <p:cNvPr id="4" name="Image 0" descr="/home/user/SoC_Design_and_Programming/diagrams/flow_control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029200" y="1371600"/>
            <a:ext cx="3200400" cy="2319606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14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2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1828800"/>
            <a:ext cx="80467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3. Master / Slave 구현 사항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548640" y="310896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dirty="0">
                <a:solidFill>
                  <a:srgbClr val="666666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하드웨어 블록 구성부터 고장 처리 로직까지 구현 세부사항을 짚는다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15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 전체 구조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8046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테스트 장치 · PS · PL(Master IP 포함) · GPIO 네 영역으로 구성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GPIO를 통해 Slave와 TX/RX 시리얼로 연결 — 이후 슬라이드에서 블록을 하나씩 확대</a:t>
            </a:r>
            <a:endParaRPr lang="en-US" sz="1700" dirty="0"/>
          </a:p>
        </p:txBody>
      </p:sp>
      <p:pic>
        <p:nvPicPr>
          <p:cNvPr id="4" name="Image 0" descr="/home/user/SoC_Design_and_Programming/diagrams/section3/zoom/master_overview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48640" y="2061599"/>
            <a:ext cx="8046720" cy="218616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16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 - GPIO 확대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402336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GND / RX 포트 / TX 포트로 구성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TX·RX는 PL(Master IP)과 Slave 사이를 잇는 물리 연결 — 외부 장치-PS-PL 경로와는 분리된 통신 채널</a:t>
            </a:r>
            <a:endParaRPr lang="en-US" sz="1800" dirty="0"/>
          </a:p>
        </p:txBody>
      </p:sp>
      <p:pic>
        <p:nvPicPr>
          <p:cNvPr id="4" name="Image 0" descr="/home/user/SoC_Design_and_Programming/diagrams/section3/zoom/m_gpio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846320" y="1916974"/>
            <a:ext cx="3749040" cy="1606731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17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 - PS 확대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8046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외부 테스트 장치에서 초깃값을 입력받아 Master를 초기 구동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구동 중인 Master 값을 레지스터로 읽고, Master가 발생시키는 인터럽트를 수신</a:t>
            </a:r>
            <a:endParaRPr lang="en-US" sz="1700" dirty="0"/>
          </a:p>
        </p:txBody>
      </p:sp>
      <p:pic>
        <p:nvPicPr>
          <p:cNvPr id="4" name="Image 0" descr="/home/user/SoC_Design_and_Programming/diagrams/section3/zoom/m_ps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103179" y="1783080"/>
            <a:ext cx="6937641" cy="2743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18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 - PL 확대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402336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LED · 푸시버튼 · DIP 스위치 · 7-seg와 Master IP로 보드 자체의 입출력 구성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LED는 RX/TX 이진 신호를 그대로 받아 통신 상태를 표시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DIP 스위치·7-seg는 슬롯별 통신 상태와 수신 데이터를 출력 — Master IP가 이들을 조율</a:t>
            </a:r>
            <a:endParaRPr lang="en-US" sz="1800" dirty="0"/>
          </a:p>
        </p:txBody>
      </p:sp>
      <p:pic>
        <p:nvPicPr>
          <p:cNvPr id="4" name="Image 0" descr="/home/user/SoC_Design_and_Programming/diagrams/section3/zoom/m_pl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846320" y="1653968"/>
            <a:ext cx="3749040" cy="213274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19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 - Master IP 확대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8046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PS에서 설정값을 받아 동기 메시지를 송신, 각 Slave의 응답을 수신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에러·데이터 전송 여부·형식·슬롯 침범 여부를 확인해 내부에서 고장 처리 후 PS에 보고</a:t>
            </a:r>
            <a:endParaRPr lang="en-US" sz="1700" dirty="0"/>
          </a:p>
        </p:txBody>
      </p:sp>
      <p:pic>
        <p:nvPicPr>
          <p:cNvPr id="4" name="Image 0" descr="/home/user/SoC_Design_and_Programming/diagrams/section3/zoom/m_masterip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548640" y="2128313"/>
            <a:ext cx="8046720" cy="2052735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20</a:t>
            </a:r>
            <a:endParaRPr lang="en-US" sz="12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Slave 전체 구조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8046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GPIO · PL(Slave IP 포함) 두 영역으로 구성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GPIO를 통해 Master와 TX/RX 시리얼로 연결</a:t>
            </a:r>
            <a:endParaRPr lang="en-US" sz="1700" dirty="0"/>
          </a:p>
        </p:txBody>
      </p:sp>
      <p:pic>
        <p:nvPicPr>
          <p:cNvPr id="4" name="Image 0" descr="/home/user/SoC_Design_and_Programming/diagrams/section3/zoom/slave_overview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36404" y="1783080"/>
            <a:ext cx="7871192" cy="2743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21</a:t>
            </a:r>
            <a:endParaRPr lang="en-US" sz="12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Slave - GPIO 확대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402336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GND / RX 포트 / TX 포트로 구성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RX·TX는 LED에 직결되어 통신 상태를 표시 (Master와 표현 통일)</a:t>
            </a:r>
            <a:endParaRPr lang="en-US" sz="1800" dirty="0"/>
          </a:p>
        </p:txBody>
      </p:sp>
      <p:pic>
        <p:nvPicPr>
          <p:cNvPr id="4" name="Image 0" descr="/home/user/SoC_Design_and_Programming/diagrams/section3/zoom/s_gpio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846320" y="1618103"/>
            <a:ext cx="3749040" cy="220447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22</a:t>
            </a:r>
            <a:endParaRPr lang="en-US" sz="12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Slave - PL 확대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402336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LED와 Slave IP로 구성</a:t>
            </a:r>
            <a:endParaRPr lang="en-US" sz="18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구조는 단순하지만 일관성을 위해 동일하게 확대해서 표시</a:t>
            </a:r>
            <a:endParaRPr lang="en-US" sz="1800" dirty="0"/>
          </a:p>
        </p:txBody>
      </p:sp>
      <p:pic>
        <p:nvPicPr>
          <p:cNvPr id="4" name="Image 0" descr="/home/user/SoC_Design_and_Programming/diagrams/section3/zoom/s_pl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846320" y="1484484"/>
            <a:ext cx="3749040" cy="247171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23</a:t>
            </a:r>
            <a:endParaRPr lang="en-US" sz="12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Slave - Slave IP 확대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8046720" cy="594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Master의 동기 메시지를 받으면 자신의 슬롯 시간대를 계산해 적시에 메시지를 전송</a:t>
            </a:r>
            <a:endParaRPr lang="en-US" sz="17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7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Master가 송신 중단을 명령하면 송신을 중지하는 등 고장 처리를 수행</a:t>
            </a:r>
            <a:endParaRPr lang="en-US" sz="1700" dirty="0"/>
          </a:p>
        </p:txBody>
      </p:sp>
      <p:pic>
        <p:nvPicPr>
          <p:cNvPr id="4" name="Image 0" descr="/home/user/SoC_Design_and_Programming/diagrams/section3/zoom/s_slaveip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745187" y="1783080"/>
            <a:ext cx="7653626" cy="27432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24</a:t>
            </a:r>
            <a:endParaRPr lang="en-US" sz="12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Slave의 멀티 슬롯 시뮬레이션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804672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통신 시연에서는 하나의 물리 시퀀서가 8개의 슬롯(슬롯 인덱스 0~7)을 순차 처리 — 슬롯 위치가 식별자 역할을 함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각 슬롯은 자신의 타임슬롯에서 자신의 payload를 전송 (슬롯별 절대 타겟 틱을 기준으로 순회)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시연에서는 버튼으로 payload 값을 바꾸고, 변경된 값이 Master에서 정확히 수신되는지 확인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25</a:t>
            </a:r>
            <a:endParaRPr lang="en-US" sz="12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Slave의 payload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804672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payload 레지스터는 리셋 시 0으로 초기화</a:t>
            </a:r>
            <a:endParaRPr lang="en-US" sz="1800" dirty="0"/>
          </a:p>
          <a:p>
            <a:pPr marL="342900" indent="-342900">
              <a:buSzPct val="100000"/>
              <a:buChar char="•"/>
            </a:pPr>
            <a:r>
              <a:rPr lang="en-US" sz="18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버튼을 누를 때마다 슬롯별로 정해진 값만큼 증가</a:t>
            </a:r>
            <a:endParaRPr lang="en-US" sz="18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240280"/>
          <a:ext cx="8046720" cy="914400"/>
        </p:xfrm>
        <a:graphic>
          <a:graphicData uri="http://schemas.openxmlformats.org/drawingml/2006/table">
            <a:tbl>
              <a:tblPr/>
              <a:tblGrid>
                <a:gridCol w="894080"/>
                <a:gridCol w="894080"/>
                <a:gridCol w="894080"/>
                <a:gridCol w="894080"/>
                <a:gridCol w="894080"/>
                <a:gridCol w="894080"/>
                <a:gridCol w="894080"/>
                <a:gridCol w="894080"/>
                <a:gridCol w="89408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슬롯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0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1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2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3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4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5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6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7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D2D2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증가량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+1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+2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+4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+8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+16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+32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+64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dirty="0">
                          <a:solidFill>
                            <a:srgbClr val="222222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+128</a:t>
                      </a:r>
                      <a:endParaRPr lang="en-US" sz="140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26</a:t>
            </a:r>
            <a:endParaRPr lang="en-US" sz="12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Master의 고장 처리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804672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슬롯별 4가지 카운터(preamble_err_cnt, slot_timeout_cnt, hamming_err_cnt, silent_cnt)로 임계치 기반 고장 판정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slot_timeout_cnt는 심각한 타이밍/주소 불일치 시 즉시 255로 saturate, 약한 가드 경계 오류 시 +6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판정 임곗값(FAULT_TH, SILENT_TH)은 PS가 AXI 레지스터로 설정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(preamble_err_cnt + slot_timeout_cnt + hamming_err_cnt) &gt; FAULT_TH 이면 halt_cmd=1 → 동기 프레임에 실어 전송 (silent_cnt는 표시용으로 합산에서 제외)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27</a:t>
            </a:r>
            <a:endParaRPr lang="en-US" sz="12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Master의 고장 처리 흐름도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188720"/>
            <a:ext cx="804672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슬롯마다 프리앰블 → Hamming → 타이밍(clk_cnt/slot 비교) 순으로 검사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각 단계의 오류는 해당 카운터를 증가시킴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누적합이 FAULT_TH를 넘으면 halt_cmd=1, 이후 카운터는 동결됨</a:t>
            </a:r>
            <a:endParaRPr lang="en-US" sz="16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6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halt_cmd는 리셋 전까지 유지되며, 취소 경로는 없음</a:t>
            </a:r>
            <a:endParaRPr lang="en-US" sz="1600" dirty="0"/>
          </a:p>
        </p:txBody>
      </p:sp>
      <p:pic>
        <p:nvPicPr>
          <p:cNvPr id="4" name="Image 0" descr="/home/user/SoC_Design_and_Programming/diagrams/section3/zoom/master_fault_flow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383381" y="1920240"/>
            <a:ext cx="6377239" cy="26517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28</a:t>
            </a:r>
            <a:endParaRPr lang="en-US" sz="12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548640" y="274320"/>
            <a:ext cx="8046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Slave의 고장 처리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548640" y="1234440"/>
            <a:ext cx="8046720" cy="2971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 broadcast 프레임의 halt_cmd 필드를 수신하면 해당 슬롯은 송신 중단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Master가 다음 broadcast에서 해당 비트를 0으로 보내면 다음 사이클부터 자동으로 재개</a:t>
            </a:r>
            <a:endParaRPr lang="en-US" sz="20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2000" dirty="0">
                <a:solidFill>
                  <a:srgbClr val="222222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Slave 자체 감지 고장(tx_overlap, slot_timing_invalid, pl_payload6/7_invalid, rx_ham_2bit)은 플래그로 누적되어 인터럽트 신호만 발생, 별도 조치는 없음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999999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29</a:t>
            </a:r>
            <a:endParaRPr lang="en-US" sz="12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8046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11111"/>
                </a:solidFill>
                <a:latin typeface="Noto Sans CJK KR"/>
              </a:rPr>
              <a:t>4. TDMA 통신 시연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3111120"/>
            <a:ext cx="8046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666666"/>
                </a:solidFill>
                <a:latin typeface="Noto Sans CJK KR"/>
              </a:rPr>
              <a:t>실제 보드에서 TDMA 통신이 동작하는 과정을 시연한다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999999"/>
                </a:solidFill>
                <a:latin typeface="Noto Sans CJK KR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2F2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8046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111111"/>
                </a:solidFill>
                <a:latin typeface="Noto Sans CJK KR"/>
              </a:rPr>
              <a:t>5. 마무리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503920" y="4754880"/>
            <a:ext cx="4572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200">
                <a:solidFill>
                  <a:srgbClr val="999999"/>
                </a:solidFill>
                <a:latin typeface="Noto Sans CJK KR"/>
              </a:rPr>
              <a:t>31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TDMA 기반 Master-Slave 통신 SoC 구현</dc:title>
  <dc:subject>PptxGenJS Presentation</dc:subject>
  <dc:creator>PptxGenJS</dc:creator>
  <cp:lastModifiedBy>PptxGenJS</cp:lastModifiedBy>
  <cp:revision>1</cp:revision>
  <dcterms:created xsi:type="dcterms:W3CDTF">2026-06-22T05:09:45Z</dcterms:created>
  <dcterms:modified xsi:type="dcterms:W3CDTF">2026-06-22T05:09:45Z</dcterms:modified>
</cp:coreProperties>
</file>